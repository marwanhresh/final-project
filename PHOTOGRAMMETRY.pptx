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8" r:id="rId4"/>
    <p:sldId id="259" r:id="rId5"/>
    <p:sldId id="260" r:id="rId6"/>
    <p:sldId id="261" r:id="rId7"/>
    <p:sldId id="262" r:id="rId8"/>
    <p:sldId id="263" r:id="rId9"/>
    <p:sldId id="268" r:id="rId10"/>
    <p:sldId id="264" r:id="rId11"/>
    <p:sldId id="265" r:id="rId12"/>
    <p:sldId id="266" r:id="rId13"/>
    <p:sldId id="267"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notesMaster" Target="notesMasters/notesMaster1.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65B211-C1C0-45AD-BB9A-D2C178F589FC}" type="datetimeFigureOut">
              <a:rPr lang="en-US" smtClean="0"/>
              <a:t>10/28/2024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BA70B0-4E72-4CC3-822B-C719ECE59393}" type="slidenum">
              <a:rPr lang="en-US" smtClean="0"/>
              <a:t>‹#›</a:t>
            </a:fld>
            <a:endParaRPr lang="en-US"/>
          </a:p>
        </p:txBody>
      </p:sp>
    </p:spTree>
    <p:extLst>
      <p:ext uri="{BB962C8B-B14F-4D97-AF65-F5344CB8AC3E}">
        <p14:creationId xmlns:p14="http://schemas.microsoft.com/office/powerpoint/2010/main" val="736211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BA70B0-4E72-4CC3-822B-C719ECE59393}" type="slidenum">
              <a:rPr lang="en-US" smtClean="0"/>
              <a:t>1</a:t>
            </a:fld>
            <a:endParaRPr lang="en-US"/>
          </a:p>
        </p:txBody>
      </p:sp>
    </p:spTree>
    <p:extLst>
      <p:ext uri="{BB962C8B-B14F-4D97-AF65-F5344CB8AC3E}">
        <p14:creationId xmlns:p14="http://schemas.microsoft.com/office/powerpoint/2010/main" val="143136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הוא</a:t>
            </a:r>
            <a:r>
              <a:rPr lang="en-US" dirty="0"/>
              <a:t> </a:t>
            </a:r>
            <a:r>
              <a:rPr lang="en-US" dirty="0" err="1"/>
              <a:t>תהליך</a:t>
            </a:r>
            <a:r>
              <a:rPr lang="en-US" dirty="0"/>
              <a:t> </a:t>
            </a:r>
            <a:r>
              <a:rPr lang="en-US" dirty="0" err="1"/>
              <a:t>של</a:t>
            </a:r>
            <a:r>
              <a:rPr lang="en-US" dirty="0"/>
              <a:t> </a:t>
            </a:r>
            <a:r>
              <a:rPr lang="en-US" dirty="0" err="1"/>
              <a:t>שימוש</a:t>
            </a:r>
            <a:r>
              <a:rPr lang="en-US" dirty="0"/>
              <a:t> </a:t>
            </a:r>
            <a:r>
              <a:rPr lang="en-US" dirty="0" err="1"/>
              <a:t>בתמונות</a:t>
            </a:r>
            <a:r>
              <a:rPr lang="en-US" dirty="0"/>
              <a:t> </a:t>
            </a:r>
            <a:r>
              <a:rPr lang="en-US" dirty="0" err="1"/>
              <a:t>או</a:t>
            </a:r>
            <a:r>
              <a:rPr lang="en-US" dirty="0"/>
              <a:t> </a:t>
            </a:r>
            <a:r>
              <a:rPr lang="en-US" dirty="0" err="1"/>
              <a:t>סריקות</a:t>
            </a:r>
            <a:r>
              <a:rPr lang="en-US" dirty="0"/>
              <a:t> </a:t>
            </a:r>
            <a:r>
              <a:rPr lang="en-US" dirty="0" err="1"/>
              <a:t>ללא</a:t>
            </a:r>
            <a:r>
              <a:rPr lang="en-US" dirty="0"/>
              <a:t> </a:t>
            </a:r>
            <a:r>
              <a:rPr lang="en-US" dirty="0" err="1"/>
              <a:t>מגע</a:t>
            </a:r>
            <a:r>
              <a:rPr lang="en-US" dirty="0"/>
              <a:t> </a:t>
            </a:r>
            <a:r>
              <a:rPr lang="en-US" dirty="0" err="1"/>
              <a:t>של</a:t>
            </a:r>
            <a:r>
              <a:rPr lang="en-US" dirty="0"/>
              <a:t> </a:t>
            </a:r>
            <a:r>
              <a:rPr lang="en-US" dirty="0" err="1"/>
              <a:t>אובייקט</a:t>
            </a:r>
            <a:r>
              <a:rPr lang="en-US" dirty="0"/>
              <a:t> </a:t>
            </a:r>
            <a:r>
              <a:rPr lang="en-US" dirty="0" err="1"/>
              <a:t>כדי</a:t>
            </a:r>
            <a:r>
              <a:rPr lang="en-US" dirty="0"/>
              <a:t> </a:t>
            </a:r>
            <a:r>
              <a:rPr lang="en-US" dirty="0" err="1"/>
              <a:t>לקבל</a:t>
            </a:r>
            <a:r>
              <a:rPr lang="en-US" dirty="0"/>
              <a:t> </a:t>
            </a:r>
            <a:r>
              <a:rPr lang="en-US" dirty="0" err="1"/>
              <a:t>מודל</a:t>
            </a:r>
            <a:r>
              <a:rPr lang="en-US" dirty="0"/>
              <a:t> </a:t>
            </a:r>
            <a:r>
              <a:rPr lang="en-US" dirty="0" err="1"/>
              <a:t>תלת</a:t>
            </a:r>
            <a:r>
              <a:rPr lang="en-US" dirty="0"/>
              <a:t> </a:t>
            </a:r>
            <a:r>
              <a:rPr lang="en-US" dirty="0" err="1"/>
              <a:t>מימדי</a:t>
            </a:r>
            <a:r>
              <a:rPr lang="en-US" dirty="0"/>
              <a:t> (3-D) </a:t>
            </a:r>
            <a:r>
              <a:rPr lang="en-US" dirty="0" err="1"/>
              <a:t>ממדידות</a:t>
            </a:r>
            <a:r>
              <a:rPr lang="en-US" dirty="0"/>
              <a:t> </a:t>
            </a:r>
            <a:r>
              <a:rPr lang="en-US" dirty="0" err="1"/>
              <a:t>פני</a:t>
            </a:r>
            <a:r>
              <a:rPr lang="en-US" dirty="0"/>
              <a:t> </a:t>
            </a:r>
            <a:r>
              <a:rPr lang="en-US" dirty="0" err="1"/>
              <a:t>השטח</a:t>
            </a:r>
            <a:r>
              <a:rPr lang="en-US" dirty="0"/>
              <a:t>. </a:t>
            </a:r>
            <a:r>
              <a:rPr lang="en-US" dirty="0" err="1"/>
              <a:t>זה</a:t>
            </a:r>
            <a:r>
              <a:rPr lang="en-US" dirty="0"/>
              <a:t> </a:t>
            </a:r>
            <a:r>
              <a:rPr lang="en-US" dirty="0" err="1"/>
              <a:t>יכול</a:t>
            </a:r>
            <a:r>
              <a:rPr lang="en-US" dirty="0"/>
              <a:t> </a:t>
            </a:r>
            <a:r>
              <a:rPr lang="en-US" dirty="0" err="1"/>
              <a:t>לשמש</a:t>
            </a:r>
            <a:r>
              <a:rPr lang="en-US" dirty="0"/>
              <a:t> </a:t>
            </a:r>
            <a:r>
              <a:rPr lang="en-US" dirty="0" err="1"/>
              <a:t>ככלי</a:t>
            </a:r>
            <a:r>
              <a:rPr lang="en-US" dirty="0"/>
              <a:t> </a:t>
            </a:r>
            <a:r>
              <a:rPr lang="en-US" dirty="0" err="1"/>
              <a:t>אנליטי</a:t>
            </a:r>
            <a:r>
              <a:rPr lang="en-US" dirty="0"/>
              <a:t> </a:t>
            </a:r>
            <a:r>
              <a:rPr lang="en-US" dirty="0" err="1"/>
              <a:t>למדידת</a:t>
            </a:r>
            <a:r>
              <a:rPr lang="en-US" dirty="0"/>
              <a:t> </a:t>
            </a:r>
            <a:r>
              <a:rPr lang="en-US" dirty="0" err="1"/>
              <a:t>תכונות</a:t>
            </a:r>
            <a:r>
              <a:rPr lang="en-US" dirty="0"/>
              <a:t> </a:t>
            </a:r>
            <a:r>
              <a:rPr lang="en-US" dirty="0" err="1"/>
              <a:t>פני</a:t>
            </a:r>
            <a:r>
              <a:rPr lang="en-US" dirty="0"/>
              <a:t> </a:t>
            </a:r>
            <a:r>
              <a:rPr lang="en-US" dirty="0" err="1"/>
              <a:t>השטח</a:t>
            </a:r>
            <a:r>
              <a:rPr lang="en-US" dirty="0"/>
              <a:t> </a:t>
            </a:r>
            <a:r>
              <a:rPr lang="en-US" dirty="0" err="1"/>
              <a:t>של</a:t>
            </a:r>
            <a:r>
              <a:rPr lang="en-US" dirty="0"/>
              <a:t> </a:t>
            </a:r>
          </a:p>
          <a:p>
            <a:r>
              <a:rPr lang="en-US" dirty="0" err="1"/>
              <a:t>אובייקטים</a:t>
            </a:r>
            <a:r>
              <a:rPr lang="en-US" dirty="0"/>
              <a:t> </a:t>
            </a:r>
            <a:r>
              <a:rPr lang="en-US" dirty="0" err="1"/>
              <a:t>או</a:t>
            </a:r>
            <a:r>
              <a:rPr lang="en-US" dirty="0"/>
              <a:t> </a:t>
            </a:r>
            <a:r>
              <a:rPr lang="en-US" dirty="0" err="1"/>
              <a:t>סביבות</a:t>
            </a:r>
            <a:r>
              <a:rPr lang="en-US" dirty="0"/>
              <a:t> </a:t>
            </a:r>
            <a:r>
              <a:rPr lang="en-US" dirty="0" err="1"/>
              <a:t>וגם</a:t>
            </a:r>
            <a:r>
              <a:rPr lang="en-US" dirty="0"/>
              <a:t> </a:t>
            </a:r>
            <a:r>
              <a:rPr lang="en-US" dirty="0" err="1"/>
              <a:t>כדרך</a:t>
            </a:r>
            <a:r>
              <a:rPr lang="en-US" dirty="0"/>
              <a:t> </a:t>
            </a:r>
            <a:r>
              <a:rPr lang="en-US" dirty="0" err="1"/>
              <a:t>להציג</a:t>
            </a:r>
            <a:r>
              <a:rPr lang="en-US" dirty="0"/>
              <a:t> </a:t>
            </a:r>
            <a:r>
              <a:rPr lang="en-US" dirty="0" err="1"/>
              <a:t>וללמוד</a:t>
            </a:r>
            <a:r>
              <a:rPr lang="en-US" dirty="0"/>
              <a:t> </a:t>
            </a:r>
            <a:r>
              <a:rPr lang="en-US" dirty="0" err="1"/>
              <a:t>אותם</a:t>
            </a:r>
            <a:r>
              <a:rPr lang="en-US" dirty="0"/>
              <a:t> </a:t>
            </a:r>
            <a:r>
              <a:rPr lang="en-US" dirty="0" err="1"/>
              <a:t>באופן</a:t>
            </a:r>
            <a:r>
              <a:rPr lang="en-US" dirty="0"/>
              <a:t> </a:t>
            </a:r>
            <a:r>
              <a:rPr lang="en-US" dirty="0" err="1"/>
              <a:t>דיגיטלי</a:t>
            </a:r>
            <a:r>
              <a:rPr lang="en-US" dirty="0"/>
              <a:t>.</a:t>
            </a:r>
          </a:p>
        </p:txBody>
      </p:sp>
      <p:sp>
        <p:nvSpPr>
          <p:cNvPr id="4" name="Slide Number Placeholder 3"/>
          <p:cNvSpPr>
            <a:spLocks noGrp="1"/>
          </p:cNvSpPr>
          <p:nvPr>
            <p:ph type="sldNum" sz="quarter" idx="10"/>
          </p:nvPr>
        </p:nvSpPr>
        <p:spPr/>
        <p:txBody>
          <a:bodyPr/>
          <a:lstStyle/>
          <a:p>
            <a:fld id="{AABA70B0-4E72-4CC3-822B-C719ECE59393}" type="slidenum">
              <a:rPr lang="en-US" smtClean="0"/>
              <a:t>2</a:t>
            </a:fld>
            <a:endParaRPr lang="en-US"/>
          </a:p>
        </p:txBody>
      </p:sp>
    </p:spTree>
    <p:extLst>
      <p:ext uri="{BB962C8B-B14F-4D97-AF65-F5344CB8AC3E}">
        <p14:creationId xmlns:p14="http://schemas.microsoft.com/office/powerpoint/2010/main" val="3527802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טקסטורה (</a:t>
            </a:r>
            <a:r>
              <a:rPr lang="en-US" dirty="0"/>
              <a:t>Texture) </a:t>
            </a:r>
            <a:r>
              <a:rPr lang="he-IL" dirty="0"/>
              <a:t>היא דפוס או תמונה שמוחלת על פני שטח של אובייקט תלת-ממדי כדי להעניק לו מראה מציאותי ומפורט. הטקסטורה מעניקה לאובייקט פרטים כמו צבע, דפוס, ומבנה, ומאפשרת ליצור תחושה של חומרים שונים (כמו עץ, מתכת, בד, עור וכו').</a:t>
            </a:r>
            <a:endParaRPr lang="en-US" dirty="0"/>
          </a:p>
        </p:txBody>
      </p:sp>
      <p:sp>
        <p:nvSpPr>
          <p:cNvPr id="4" name="Slide Number Placeholder 3"/>
          <p:cNvSpPr>
            <a:spLocks noGrp="1"/>
          </p:cNvSpPr>
          <p:nvPr>
            <p:ph type="sldNum" sz="quarter" idx="10"/>
          </p:nvPr>
        </p:nvSpPr>
        <p:spPr/>
        <p:txBody>
          <a:bodyPr/>
          <a:lstStyle/>
          <a:p>
            <a:fld id="{AABA70B0-4E72-4CC3-822B-C719ECE59393}" type="slidenum">
              <a:rPr lang="en-US" smtClean="0"/>
              <a:t>4</a:t>
            </a:fld>
            <a:endParaRPr lang="en-US"/>
          </a:p>
        </p:txBody>
      </p:sp>
    </p:spTree>
    <p:extLst>
      <p:ext uri="{BB962C8B-B14F-4D97-AF65-F5344CB8AC3E}">
        <p14:creationId xmlns:p14="http://schemas.microsoft.com/office/powerpoint/2010/main" val="16598033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662CF33F-7E2C-4C90-85E8-0FBEF1CD94E9}" type="datetimeFigureOut">
              <a:rPr lang="en-US" smtClean="0"/>
              <a:t>10/28/2024</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3987422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2CF33F-7E2C-4C90-85E8-0FBEF1CD94E9}"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2970682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662CF33F-7E2C-4C90-85E8-0FBEF1CD94E9}" type="datetimeFigureOut">
              <a:rPr lang="en-US" smtClean="0"/>
              <a:t>10/28/2024</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108897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2CF33F-7E2C-4C90-85E8-0FBEF1CD94E9}" type="datetimeFigureOut">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992004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62CF33F-7E2C-4C90-85E8-0FBEF1CD94E9}" type="datetimeFigureOut">
              <a:rPr lang="en-US" smtClean="0"/>
              <a:t>10/28/2024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204609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2CF33F-7E2C-4C90-85E8-0FBEF1CD94E9}" type="datetimeFigureOut">
              <a:rPr lang="en-US" smtClean="0"/>
              <a:t>10/28/2024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2577333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2CF33F-7E2C-4C90-85E8-0FBEF1CD94E9}" type="datetimeFigureOut">
              <a:rPr lang="en-US" smtClean="0"/>
              <a:t>10/28/2024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1057138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62CF33F-7E2C-4C90-85E8-0FBEF1CD94E9}" type="datetimeFigureOut">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1382676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62CF33F-7E2C-4C90-85E8-0FBEF1CD94E9}" type="datetimeFigureOut">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636344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62CF33F-7E2C-4C90-85E8-0FBEF1CD94E9}" type="datetimeFigureOut">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2863365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662CF33F-7E2C-4C90-85E8-0FBEF1CD94E9}" type="datetimeFigureOut">
              <a:rPr lang="en-US" smtClean="0"/>
              <a:t>10/28/2024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3499909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662CF33F-7E2C-4C90-85E8-0FBEF1CD94E9}" type="datetimeFigureOut">
              <a:rPr lang="en-US" smtClean="0"/>
              <a:t>10/28/2024</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C63C6DDF-9116-412C-A505-0AF960D56F39}"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48194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662CF33F-7E2C-4C90-85E8-0FBEF1CD94E9}" type="datetimeFigureOut">
              <a:rPr lang="en-US" smtClean="0"/>
              <a:t>10/28/2024</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2821880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662CF33F-7E2C-4C90-85E8-0FBEF1CD94E9}" type="datetimeFigureOut">
              <a:rPr lang="en-US" smtClean="0"/>
              <a:t>10/28/2024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2543358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662CF33F-7E2C-4C90-85E8-0FBEF1CD94E9}" type="datetimeFigureOut">
              <a:rPr lang="en-US" smtClean="0"/>
              <a:t>10/28/2024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27516678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2CF33F-7E2C-4C90-85E8-0FBEF1CD94E9}" type="datetimeFigureOut">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12310494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662CF33F-7E2C-4C90-85E8-0FBEF1CD94E9}" type="datetimeFigureOut">
              <a:rPr lang="en-US" smtClean="0"/>
              <a:t>10/28/2024</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C63C6DDF-9116-412C-A505-0AF960D56F39}" type="slidenum">
              <a:rPr lang="en-US" smtClean="0"/>
              <a:t>‹#›</a:t>
            </a:fld>
            <a:endParaRPr lang="en-US"/>
          </a:p>
        </p:txBody>
      </p:sp>
    </p:spTree>
    <p:extLst>
      <p:ext uri="{BB962C8B-B14F-4D97-AF65-F5344CB8AC3E}">
        <p14:creationId xmlns:p14="http://schemas.microsoft.com/office/powerpoint/2010/main" val="622870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62CF33F-7E2C-4C90-85E8-0FBEF1CD94E9}" type="datetimeFigureOut">
              <a:rPr lang="en-US" smtClean="0"/>
              <a:t>10/28/2024</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63C6DDF-9116-412C-A505-0AF960D56F39}" type="slidenum">
              <a:rPr lang="en-US" smtClean="0"/>
              <a:t>‹#›</a:t>
            </a:fld>
            <a:endParaRPr lang="en-US"/>
          </a:p>
        </p:txBody>
      </p:sp>
    </p:spTree>
    <p:extLst>
      <p:ext uri="{BB962C8B-B14F-4D97-AF65-F5344CB8AC3E}">
        <p14:creationId xmlns:p14="http://schemas.microsoft.com/office/powerpoint/2010/main" val="371569676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7200" dirty="0"/>
              <a:t>PHOTOGRAMMETRY</a:t>
            </a:r>
          </a:p>
        </p:txBody>
      </p:sp>
      <p:sp>
        <p:nvSpPr>
          <p:cNvPr id="3" name="Subtitle 2"/>
          <p:cNvSpPr>
            <a:spLocks noGrp="1"/>
          </p:cNvSpPr>
          <p:nvPr>
            <p:ph type="subTitle" idx="1"/>
          </p:nvPr>
        </p:nvSpPr>
        <p:spPr>
          <a:xfrm>
            <a:off x="1371600" y="3632201"/>
            <a:ext cx="9448800" cy="2873102"/>
          </a:xfrm>
        </p:spPr>
        <p:txBody>
          <a:bodyPr>
            <a:normAutofit/>
          </a:bodyPr>
          <a:lstStyle/>
          <a:p>
            <a:pPr algn="ctr"/>
            <a:r>
              <a:rPr lang="he-IL" sz="2400" dirty="0"/>
              <a:t>מרואן </a:t>
            </a:r>
            <a:r>
              <a:rPr lang="he-IL" sz="2400" dirty="0" err="1"/>
              <a:t>הרייש</a:t>
            </a:r>
            <a:r>
              <a:rPr lang="he-IL" sz="2400" dirty="0"/>
              <a:t> -206467292</a:t>
            </a:r>
          </a:p>
          <a:p>
            <a:pPr algn="ctr"/>
            <a:r>
              <a:rPr lang="he-IL" sz="2400" dirty="0"/>
              <a:t>נור </a:t>
            </a:r>
            <a:r>
              <a:rPr lang="he-IL" sz="2400" dirty="0" err="1"/>
              <a:t>אגא</a:t>
            </a:r>
            <a:r>
              <a:rPr lang="he-IL" sz="2400" dirty="0"/>
              <a:t> –207261652 </a:t>
            </a:r>
          </a:p>
          <a:p>
            <a:pPr algn="ctr"/>
            <a:r>
              <a:rPr lang="he-IL" sz="2400" dirty="0"/>
              <a:t>גל הילל-</a:t>
            </a:r>
            <a:endParaRPr lang="en-US" sz="2400" dirty="0"/>
          </a:p>
        </p:txBody>
      </p:sp>
    </p:spTree>
    <p:extLst>
      <p:ext uri="{BB962C8B-B14F-4D97-AF65-F5344CB8AC3E}">
        <p14:creationId xmlns:p14="http://schemas.microsoft.com/office/powerpoint/2010/main" val="3936424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err="1"/>
              <a:t>פוטוגרמטריה</a:t>
            </a:r>
            <a:r>
              <a:rPr lang="he-IL" dirty="0"/>
              <a:t> :</a:t>
            </a:r>
            <a:endParaRPr lang="en-US" dirty="0"/>
          </a:p>
        </p:txBody>
      </p:sp>
      <p:sp>
        <p:nvSpPr>
          <p:cNvPr id="5" name="Rectangle 2"/>
          <p:cNvSpPr>
            <a:spLocks noGrp="1" noChangeArrowheads="1"/>
          </p:cNvSpPr>
          <p:nvPr>
            <p:ph idx="1"/>
          </p:nvPr>
        </p:nvSpPr>
        <p:spPr bwMode="auto">
          <a:xfrm>
            <a:off x="1063487" y="2624299"/>
            <a:ext cx="9722757"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endParaRPr lang="he-IL" altLang="en-US" sz="2800" dirty="0">
              <a:latin typeface="Arial Unicode MS"/>
              <a:cs typeface="Arial" panose="020B0604020202020204" pitchFamily="34" charset="0"/>
            </a:endParaRPr>
          </a:p>
          <a:p>
            <a:pPr marL="0" lvl="0" indent="0" algn="r" rtl="1" eaLnBrk="0" fontAlgn="base" hangingPunct="0">
              <a:lnSpc>
                <a:spcPct val="100000"/>
              </a:lnSpc>
              <a:spcBef>
                <a:spcPct val="0"/>
              </a:spcBef>
              <a:spcAft>
                <a:spcPct val="0"/>
              </a:spcAft>
              <a:buNone/>
            </a:pPr>
            <a:r>
              <a:rPr lang="he-IL" sz="1800" dirty="0" err="1"/>
              <a:t>פוטוגרמטריה</a:t>
            </a:r>
            <a:r>
              <a:rPr lang="he-IL" sz="1800" dirty="0"/>
              <a:t> היא טכניקת מדידה המבוססת על צילום, שמשתמשת בתמונות כדי ליצור מודלים תלת-ממדיים ולמדוד ממדים של אובייקטים או שטחים. בעזרת </a:t>
            </a:r>
            <a:r>
              <a:rPr lang="he-IL" sz="1800" dirty="0" err="1"/>
              <a:t>פוטוגרמטריה</a:t>
            </a:r>
            <a:r>
              <a:rPr lang="he-IL" sz="1800" dirty="0"/>
              <a:t>, אפשר לקבוע את המיקום, הגובה, והצורה של אובייקטים שונים על פני השטח, באמצעות תמונות שצולמו מזוויות שונות. השיטה שימושית בתחומים כמו גאוגרפיה, ארכיאולוגיה, אדריכלות, והנדסה, והיא מאפשרת לייצר מפות מדויקות ולבצע ניתוחים של תהליכים גיאולוגיים או שינויי שטח.</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14852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2970415"/>
            <a:ext cx="10820400" cy="2779222"/>
          </a:xfrm>
        </p:spPr>
        <p:txBody>
          <a:bodyPr/>
          <a:lstStyle/>
          <a:p>
            <a:pPr algn="r"/>
            <a:r>
              <a:rPr lang="he-IL" dirty="0"/>
              <a:t>היא תוכנה מבוססת קוד פתוח ליצירת מודלים תלת-ממדיים מתמונות דו-ממדיות. היא עושה זאת באמצעות תהליך שנקרא </a:t>
            </a:r>
            <a:r>
              <a:rPr lang="he-IL" dirty="0" err="1"/>
              <a:t>פוטוגרמטריה</a:t>
            </a:r>
            <a:r>
              <a:rPr lang="he-IL" dirty="0"/>
              <a:t>, כלומר, הפקה של מודלים תלת-ממדיים מפענוח תמונות רגילות שצולמו מזוויות שונות</a:t>
            </a:r>
            <a:endParaRPr lang="en-US" dirty="0"/>
          </a:p>
        </p:txBody>
      </p:sp>
      <p:sp>
        <p:nvSpPr>
          <p:cNvPr id="4" name="Rectangle 1"/>
          <p:cNvSpPr>
            <a:spLocks noGrp="1" noChangeArrowheads="1"/>
          </p:cNvSpPr>
          <p:nvPr>
            <p:ph type="title"/>
          </p:nvPr>
        </p:nvSpPr>
        <p:spPr bwMode="auto">
          <a:xfrm>
            <a:off x="5994755" y="995389"/>
            <a:ext cx="551144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4800" b="0" i="0" u="none" strike="noStrike" cap="none" normalizeH="0" baseline="0" dirty="0" err="1">
                <a:ln>
                  <a:noFill/>
                </a:ln>
                <a:solidFill>
                  <a:schemeClr val="tx1"/>
                </a:solidFill>
                <a:effectLst/>
                <a:latin typeface="Arial" panose="020B0604020202020204" pitchFamily="34" charset="0"/>
              </a:rPr>
              <a:t>Meshroom</a:t>
            </a:r>
            <a:r>
              <a:rPr kumimoji="0" lang="en-US" altLang="en-US" sz="4800" b="0" i="0" u="none" strike="noStrike" cap="none" normalizeH="0" baseline="0" dirty="0">
                <a:ln>
                  <a:noFill/>
                </a:ln>
                <a:solidFill>
                  <a:schemeClr val="tx1"/>
                </a:solidFill>
                <a:effectLst/>
                <a:latin typeface="Arial" panose="020B0604020202020204" pitchFamily="34" charset="0"/>
              </a:rPr>
              <a:t> </a:t>
            </a:r>
            <a:r>
              <a:rPr kumimoji="0" lang="he-IL" altLang="en-US" sz="4800" b="0" i="0" u="none" strike="noStrike" cap="none" normalizeH="0" baseline="0" dirty="0">
                <a:ln>
                  <a:noFill/>
                </a:ln>
                <a:solidFill>
                  <a:schemeClr val="tx1"/>
                </a:solidFill>
                <a:effectLst/>
                <a:latin typeface="Arial" panose="020B0604020202020204" pitchFamily="34" charset="0"/>
              </a:rPr>
              <a:t>קוד</a:t>
            </a:r>
            <a:r>
              <a:rPr kumimoji="0" lang="he-IL" altLang="en-US" sz="4800" b="0" i="0" u="none" strike="noStrike" cap="none" normalizeH="0" dirty="0">
                <a:ln>
                  <a:noFill/>
                </a:ln>
                <a:solidFill>
                  <a:schemeClr val="tx1"/>
                </a:solidFill>
                <a:effectLst/>
                <a:latin typeface="Arial" panose="020B0604020202020204" pitchFamily="34" charset="0"/>
              </a:rPr>
              <a:t> פתוח</a:t>
            </a:r>
            <a:r>
              <a:rPr kumimoji="0" lang="en-US" altLang="en-US" sz="4800" b="0" i="0" u="none" strike="noStrike" cap="none" normalizeH="0" dirty="0">
                <a:ln>
                  <a:noFill/>
                </a:ln>
                <a:solidFill>
                  <a:schemeClr val="tx1"/>
                </a:solidFill>
                <a:effectLst/>
                <a:latin typeface="Arial" panose="020B0604020202020204" pitchFamily="34" charset="0"/>
              </a:rPr>
              <a:t> </a:t>
            </a:r>
            <a:r>
              <a:rPr kumimoji="0" lang="he-IL" altLang="en-US" sz="4800" b="0" i="0" u="none" strike="noStrike" cap="none" normalizeH="0" dirty="0">
                <a:ln>
                  <a:noFill/>
                </a:ln>
                <a:solidFill>
                  <a:schemeClr val="tx1"/>
                </a:solidFill>
                <a:effectLst/>
                <a:latin typeface="Arial" panose="020B0604020202020204" pitchFamily="34" charset="0"/>
              </a:rPr>
              <a:t> </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03111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Meshroom</a:t>
            </a:r>
            <a:r>
              <a:rPr lang="en-US" dirty="0"/>
              <a:t> </a:t>
            </a:r>
            <a:r>
              <a:rPr lang="he-IL" dirty="0"/>
              <a:t>איך עובד  ה </a:t>
            </a:r>
            <a:endParaRPr lang="en-US" dirty="0"/>
          </a:p>
        </p:txBody>
      </p:sp>
      <p:sp>
        <p:nvSpPr>
          <p:cNvPr id="3" name="Content Placeholder 2"/>
          <p:cNvSpPr>
            <a:spLocks noGrp="1"/>
          </p:cNvSpPr>
          <p:nvPr>
            <p:ph idx="1"/>
          </p:nvPr>
        </p:nvSpPr>
        <p:spPr/>
        <p:txBody>
          <a:bodyPr/>
          <a:lstStyle/>
          <a:p>
            <a:pPr marL="0" indent="0" algn="r">
              <a:buNone/>
            </a:pPr>
            <a:r>
              <a:rPr lang="he-IL" dirty="0"/>
              <a:t>משתמש באלגוריתמים של </a:t>
            </a:r>
            <a:r>
              <a:rPr lang="he-IL" dirty="0" err="1"/>
              <a:t>פוטוגרמטריה</a:t>
            </a:r>
            <a:r>
              <a:rPr lang="he-IL" dirty="0"/>
              <a:t> כדי לחשב את מיקומם ותכונותיהם של אובייקטים בתלת-ממד, בהתבסס על מידע גיאומטרי הנמצא במידע התמונה</a:t>
            </a:r>
            <a:endParaRPr lang="en-US" dirty="0"/>
          </a:p>
          <a:p>
            <a:pPr marL="0" indent="0" algn="r">
              <a:buNone/>
            </a:pPr>
            <a:r>
              <a:rPr lang="he-IL" b="1" dirty="0">
                <a:solidFill>
                  <a:schemeClr val="accent6">
                    <a:lumMod val="60000"/>
                    <a:lumOff val="40000"/>
                  </a:schemeClr>
                </a:solidFill>
              </a:rPr>
              <a:t>זיהוי והתאמת נקודות</a:t>
            </a:r>
            <a:r>
              <a:rPr lang="he-IL" dirty="0">
                <a:solidFill>
                  <a:schemeClr val="accent6">
                    <a:lumMod val="60000"/>
                    <a:lumOff val="40000"/>
                  </a:schemeClr>
                </a:solidFill>
              </a:rPr>
              <a:t> </a:t>
            </a:r>
            <a:r>
              <a:rPr lang="he-IL" dirty="0"/>
              <a:t>– הכלי מזהה נקודות מעניינות בתמונות (כמו קצוות וזוויות), ומשווה ביניהן כדי למצוא התאמות בין תמונות שונות</a:t>
            </a:r>
          </a:p>
          <a:p>
            <a:pPr marL="0" indent="0" algn="r">
              <a:buNone/>
            </a:pPr>
            <a:r>
              <a:rPr lang="he-IL" b="1" dirty="0">
                <a:solidFill>
                  <a:schemeClr val="accent6">
                    <a:lumMod val="60000"/>
                    <a:lumOff val="40000"/>
                  </a:schemeClr>
                </a:solidFill>
              </a:rPr>
              <a:t>רישום תמונות</a:t>
            </a:r>
            <a:r>
              <a:rPr lang="he-IL" dirty="0">
                <a:solidFill>
                  <a:schemeClr val="accent6">
                    <a:lumMod val="60000"/>
                    <a:lumOff val="40000"/>
                  </a:schemeClr>
                </a:solidFill>
              </a:rPr>
              <a:t> </a:t>
            </a:r>
            <a:r>
              <a:rPr lang="he-IL" dirty="0"/>
              <a:t>– מבצע רישום של התמונות כך שכל נקודה מותאמת תהיה בדיוק באותו מקום בתלת-ממד</a:t>
            </a:r>
          </a:p>
          <a:p>
            <a:pPr marL="0" indent="0" algn="r">
              <a:buNone/>
            </a:pPr>
            <a:r>
              <a:rPr lang="he-IL" dirty="0"/>
              <a:t> - יצירת ענן נקודות שמייצג את כל הנקודות המשותפות בזוויות השונות.</a:t>
            </a:r>
            <a:r>
              <a:rPr lang="he-IL" dirty="0">
                <a:solidFill>
                  <a:schemeClr val="accent6">
                    <a:lumMod val="60000"/>
                    <a:lumOff val="40000"/>
                  </a:schemeClr>
                </a:solidFill>
              </a:rPr>
              <a:t> </a:t>
            </a:r>
            <a:r>
              <a:rPr lang="en-US" dirty="0">
                <a:solidFill>
                  <a:schemeClr val="accent6">
                    <a:lumMod val="60000"/>
                    <a:lumOff val="40000"/>
                  </a:schemeClr>
                </a:solidFill>
              </a:rPr>
              <a:t>Point Cloud</a:t>
            </a:r>
            <a:r>
              <a:rPr lang="he-IL" dirty="0">
                <a:solidFill>
                  <a:schemeClr val="accent6">
                    <a:lumMod val="60000"/>
                    <a:lumOff val="40000"/>
                  </a:schemeClr>
                </a:solidFill>
              </a:rPr>
              <a:t> יצירת</a:t>
            </a:r>
            <a:endParaRPr lang="en-US" dirty="0">
              <a:solidFill>
                <a:schemeClr val="accent6">
                  <a:lumMod val="60000"/>
                  <a:lumOff val="40000"/>
                </a:schemeClr>
              </a:solidFill>
            </a:endParaRPr>
          </a:p>
          <a:p>
            <a:pPr marL="0" indent="0" algn="r">
              <a:buNone/>
            </a:pPr>
            <a:r>
              <a:rPr lang="he-IL" b="1" dirty="0">
                <a:solidFill>
                  <a:schemeClr val="accent6">
                    <a:lumMod val="60000"/>
                    <a:lumOff val="40000"/>
                  </a:schemeClr>
                </a:solidFill>
              </a:rPr>
              <a:t>הוספת טקסטורה</a:t>
            </a:r>
            <a:r>
              <a:rPr lang="he-IL" dirty="0">
                <a:solidFill>
                  <a:schemeClr val="accent6">
                    <a:lumMod val="60000"/>
                    <a:lumOff val="40000"/>
                  </a:schemeClr>
                </a:solidFill>
              </a:rPr>
              <a:t> </a:t>
            </a:r>
            <a:r>
              <a:rPr lang="he-IL" dirty="0"/>
              <a:t>- לאחר יצירת הרשת, התוכנה מוסיפה את פרטי הצבע והטקסטורה מהתמונות המקוריות כדי לתת למודל מראה יותר מציאותי</a:t>
            </a:r>
            <a:endParaRPr lang="he-IL" dirty="0">
              <a:solidFill>
                <a:schemeClr val="accent6">
                  <a:lumMod val="60000"/>
                  <a:lumOff val="40000"/>
                </a:schemeClr>
              </a:solidFill>
            </a:endParaRPr>
          </a:p>
        </p:txBody>
      </p:sp>
    </p:spTree>
    <p:extLst>
      <p:ext uri="{BB962C8B-B14F-4D97-AF65-F5344CB8AC3E}">
        <p14:creationId xmlns:p14="http://schemas.microsoft.com/office/powerpoint/2010/main" val="382718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חברות מובילות בתחום </a:t>
            </a:r>
            <a:r>
              <a:rPr lang="he-IL" dirty="0" err="1"/>
              <a:t>הפוטוגרמטריה</a:t>
            </a:r>
            <a:r>
              <a:rPr lang="he-IL" dirty="0"/>
              <a:t> </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a:solidFill>
                  <a:schemeClr val="accent6">
                    <a:lumMod val="60000"/>
                    <a:lumOff val="40000"/>
                  </a:schemeClr>
                </a:solidFill>
              </a:rPr>
              <a:t>Pix4D</a:t>
            </a:r>
            <a:r>
              <a:rPr lang="he-IL" b="1" dirty="0">
                <a:solidFill>
                  <a:schemeClr val="accent6">
                    <a:lumMod val="60000"/>
                    <a:lumOff val="40000"/>
                  </a:schemeClr>
                </a:solidFill>
              </a:rPr>
              <a:t>:</a:t>
            </a:r>
          </a:p>
          <a:p>
            <a:pPr marL="0" indent="0">
              <a:buNone/>
            </a:pPr>
            <a:r>
              <a:rPr lang="he-IL" dirty="0"/>
              <a:t>חברה שווייצרית המתמחה בפיתוח תוכנות לעיבוד תמונות </a:t>
            </a:r>
            <a:r>
              <a:rPr lang="he-IL" dirty="0" err="1"/>
              <a:t>לפוטוגרמטריה</a:t>
            </a:r>
            <a:r>
              <a:rPr lang="he-IL" dirty="0"/>
              <a:t>, כמו </a:t>
            </a:r>
          </a:p>
          <a:p>
            <a:pPr marL="0" indent="0">
              <a:buNone/>
            </a:pPr>
            <a:r>
              <a:rPr lang="en-US" dirty="0"/>
              <a:t>Pix4Dmapper.</a:t>
            </a:r>
            <a:endParaRPr lang="he-IL" dirty="0"/>
          </a:p>
          <a:p>
            <a:pPr>
              <a:buFont typeface="Wingdings" panose="05000000000000000000" pitchFamily="2" charset="2"/>
              <a:buChar char="Ø"/>
            </a:pPr>
            <a:r>
              <a:rPr lang="en-US" b="1" dirty="0" err="1">
                <a:solidFill>
                  <a:schemeClr val="accent6">
                    <a:lumMod val="60000"/>
                    <a:lumOff val="40000"/>
                  </a:schemeClr>
                </a:solidFill>
              </a:rPr>
              <a:t>Agisoft</a:t>
            </a:r>
            <a:r>
              <a:rPr lang="en-US" b="1" dirty="0">
                <a:solidFill>
                  <a:schemeClr val="accent6">
                    <a:lumMod val="60000"/>
                    <a:lumOff val="40000"/>
                  </a:schemeClr>
                </a:solidFill>
              </a:rPr>
              <a:t> </a:t>
            </a:r>
            <a:r>
              <a:rPr lang="en-US" b="1" dirty="0" err="1">
                <a:solidFill>
                  <a:schemeClr val="accent6">
                    <a:lumMod val="60000"/>
                    <a:lumOff val="40000"/>
                  </a:schemeClr>
                </a:solidFill>
              </a:rPr>
              <a:t>Metashape</a:t>
            </a:r>
            <a:r>
              <a:rPr lang="he-IL" b="1" dirty="0">
                <a:solidFill>
                  <a:schemeClr val="accent6">
                    <a:lumMod val="60000"/>
                    <a:lumOff val="40000"/>
                  </a:schemeClr>
                </a:solidFill>
              </a:rPr>
              <a:t>:</a:t>
            </a:r>
          </a:p>
          <a:p>
            <a:pPr marL="0" indent="0">
              <a:buNone/>
            </a:pPr>
            <a:r>
              <a:rPr lang="he-IL" dirty="0"/>
              <a:t>תוכנה מתקדמת </a:t>
            </a:r>
            <a:r>
              <a:rPr lang="he-IL" dirty="0" err="1"/>
              <a:t>לפוטוגרמטריה</a:t>
            </a:r>
            <a:r>
              <a:rPr lang="he-IL" dirty="0"/>
              <a:t> שמספקת כלים ליצירת מודלים תלת-ממדיים, תצלומי אוויר וסריקות שטח.</a:t>
            </a:r>
          </a:p>
          <a:p>
            <a:pPr>
              <a:buFont typeface="Wingdings" panose="05000000000000000000" pitchFamily="2" charset="2"/>
              <a:buChar char="Ø"/>
            </a:pPr>
            <a:r>
              <a:rPr lang="en-US" b="1" dirty="0" err="1">
                <a:solidFill>
                  <a:schemeClr val="accent6">
                    <a:lumMod val="60000"/>
                    <a:lumOff val="40000"/>
                  </a:schemeClr>
                </a:solidFill>
              </a:rPr>
              <a:t>DroneDeploy</a:t>
            </a:r>
            <a:r>
              <a:rPr lang="he-IL" b="1" dirty="0">
                <a:solidFill>
                  <a:schemeClr val="accent6">
                    <a:lumMod val="60000"/>
                    <a:lumOff val="40000"/>
                  </a:schemeClr>
                </a:solidFill>
              </a:rPr>
              <a:t>:</a:t>
            </a:r>
          </a:p>
          <a:p>
            <a:pPr marL="0" indent="0">
              <a:buNone/>
            </a:pPr>
            <a:r>
              <a:rPr lang="he-IL" dirty="0"/>
              <a:t>חברה אמריקאית המתמחה בתוכנות מיפוי וצילום מבוססות </a:t>
            </a:r>
            <a:r>
              <a:rPr lang="he-IL" dirty="0" err="1"/>
              <a:t>רחפנים</a:t>
            </a:r>
            <a:r>
              <a:rPr lang="he-IL" dirty="0"/>
              <a:t>, בדגש על חקלאות, בנייה ותחום האנרגיה.</a:t>
            </a:r>
            <a:endParaRPr lang="en-US" dirty="0"/>
          </a:p>
        </p:txBody>
      </p:sp>
    </p:spTree>
    <p:extLst>
      <p:ext uri="{BB962C8B-B14F-4D97-AF65-F5344CB8AC3E}">
        <p14:creationId xmlns:p14="http://schemas.microsoft.com/office/powerpoint/2010/main" val="2135330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כללי</a:t>
            </a:r>
          </a:p>
        </p:txBody>
      </p:sp>
      <p:sp>
        <p:nvSpPr>
          <p:cNvPr id="3" name="מציין מיקום תוכן 2"/>
          <p:cNvSpPr>
            <a:spLocks noGrp="1"/>
          </p:cNvSpPr>
          <p:nvPr>
            <p:ph idx="1"/>
          </p:nvPr>
        </p:nvSpPr>
        <p:spPr>
          <a:xfrm>
            <a:off x="159027" y="2194560"/>
            <a:ext cx="11678478" cy="4024125"/>
          </a:xfrm>
        </p:spPr>
        <p:txBody>
          <a:bodyPr/>
          <a:lstStyle/>
          <a:p>
            <a:pPr algn="r" rtl="1"/>
            <a:r>
              <a:rPr lang="he-IL" dirty="0"/>
              <a:t>בפרויקט זה התמקדנו באלגוריתמים ואתגרי היישום של ביצוע </a:t>
            </a:r>
            <a:r>
              <a:rPr lang="he-IL" dirty="0" err="1"/>
              <a:t>פוטוגרמטריה</a:t>
            </a:r>
            <a:r>
              <a:rPr lang="he-IL" dirty="0"/>
              <a:t> מתוך סרטון.</a:t>
            </a:r>
          </a:p>
          <a:p>
            <a:pPr algn="r" rtl="1"/>
            <a:r>
              <a:rPr lang="he-IL" dirty="0"/>
              <a:t>בחלק השני </a:t>
            </a:r>
            <a:r>
              <a:rPr lang="he-IL" dirty="0" err="1"/>
              <a:t>מהפרוייקט</a:t>
            </a:r>
            <a:r>
              <a:rPr lang="he-IL" dirty="0"/>
              <a:t> התמקדנו בשתי מטרות עיקריות: </a:t>
            </a:r>
          </a:p>
          <a:p>
            <a:pPr marL="0" indent="0" algn="r" rtl="1">
              <a:buNone/>
            </a:pPr>
            <a:r>
              <a:rPr lang="he-IL" dirty="0"/>
              <a:t>    * מחשוב סט תמונות מווידאו (מותאם </a:t>
            </a:r>
            <a:r>
              <a:rPr lang="he-IL" dirty="0" err="1"/>
              <a:t>לפוטוגרמטריה</a:t>
            </a:r>
            <a:r>
              <a:rPr lang="he-IL" dirty="0"/>
              <a:t>).</a:t>
            </a:r>
          </a:p>
          <a:p>
            <a:pPr marL="0" indent="0" algn="r" rtl="1">
              <a:buNone/>
            </a:pPr>
            <a:r>
              <a:rPr lang="he-IL" dirty="0"/>
              <a:t>    * בהינתן שתי קבוצות של ענני נקודות</a:t>
            </a:r>
            <a:r>
              <a:rPr lang="en-US" dirty="0"/>
              <a:t> (pc1, pc2) </a:t>
            </a:r>
            <a:r>
              <a:rPr lang="he-IL" dirty="0"/>
              <a:t>ליישום כלי תוכנה המאפשר חיבור לענן נקודות בודד.</a:t>
            </a:r>
          </a:p>
        </p:txBody>
      </p:sp>
    </p:spTree>
    <p:extLst>
      <p:ext uri="{BB962C8B-B14F-4D97-AF65-F5344CB8AC3E}">
        <p14:creationId xmlns:p14="http://schemas.microsoft.com/office/powerpoint/2010/main" val="918867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772478" y="2066399"/>
            <a:ext cx="8610600" cy="1293028"/>
          </a:xfrm>
        </p:spPr>
        <p:txBody>
          <a:bodyPr/>
          <a:lstStyle/>
          <a:p>
            <a:pPr algn="ctr"/>
            <a:r>
              <a:rPr lang="he-IL" dirty="0"/>
              <a:t>סקירה כללית של שלבי הפרויקט</a:t>
            </a:r>
          </a:p>
        </p:txBody>
      </p:sp>
    </p:spTree>
    <p:extLst>
      <p:ext uri="{BB962C8B-B14F-4D97-AF65-F5344CB8AC3E}">
        <p14:creationId xmlns:p14="http://schemas.microsoft.com/office/powerpoint/2010/main" val="1622080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חלק 1</a:t>
            </a:r>
          </a:p>
        </p:txBody>
      </p:sp>
      <p:sp>
        <p:nvSpPr>
          <p:cNvPr id="3" name="מציין מיקום תוכן 2"/>
          <p:cNvSpPr>
            <a:spLocks noGrp="1"/>
          </p:cNvSpPr>
          <p:nvPr>
            <p:ph idx="1"/>
          </p:nvPr>
        </p:nvSpPr>
        <p:spPr/>
        <p:txBody>
          <a:bodyPr/>
          <a:lstStyle/>
          <a:p>
            <a:pPr algn="r" rtl="1"/>
            <a:r>
              <a:rPr lang="he-IL" dirty="0"/>
              <a:t>הכרת התחום הכללי של </a:t>
            </a:r>
            <a:r>
              <a:rPr lang="he-IL" dirty="0" err="1"/>
              <a:t>הפוטוגרמטריה</a:t>
            </a:r>
            <a:r>
              <a:rPr lang="he-IL" dirty="0"/>
              <a:t> – קריאה וניתוח מאמרים, הכרת חברות מובילות בתחום כמו (</a:t>
            </a:r>
            <a:r>
              <a:rPr lang="en-US" dirty="0"/>
              <a:t>Click-INS, </a:t>
            </a:r>
            <a:r>
              <a:rPr lang="en-US" dirty="0" err="1"/>
              <a:t>Cyberhawk</a:t>
            </a:r>
            <a:r>
              <a:rPr lang="en-US" dirty="0"/>
              <a:t>, Mod tech labs, </a:t>
            </a:r>
            <a:r>
              <a:rPr lang="en-US" dirty="0" err="1"/>
              <a:t>Blackshark</a:t>
            </a:r>
            <a:r>
              <a:rPr lang="he-IL" dirty="0"/>
              <a:t>).</a:t>
            </a:r>
          </a:p>
          <a:p>
            <a:pPr algn="r" rtl="1"/>
            <a:r>
              <a:rPr lang="he-IL" dirty="0"/>
              <a:t>מציאת והבנת כלי קוד פתוח.</a:t>
            </a:r>
          </a:p>
          <a:p>
            <a:pPr algn="r" rtl="1"/>
            <a:r>
              <a:rPr lang="he-IL" dirty="0"/>
              <a:t>ביצוע הערכת ביצועים ראשונית.</a:t>
            </a:r>
          </a:p>
          <a:p>
            <a:pPr marL="0" indent="0" algn="r" rtl="1">
              <a:buNone/>
            </a:pPr>
            <a:endParaRPr lang="he-IL" dirty="0"/>
          </a:p>
        </p:txBody>
      </p:sp>
    </p:spTree>
    <p:extLst>
      <p:ext uri="{BB962C8B-B14F-4D97-AF65-F5344CB8AC3E}">
        <p14:creationId xmlns:p14="http://schemas.microsoft.com/office/powerpoint/2010/main" val="2337788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חלק 2</a:t>
            </a:r>
          </a:p>
        </p:txBody>
      </p:sp>
      <p:sp>
        <p:nvSpPr>
          <p:cNvPr id="4" name="Rectangle 1"/>
          <p:cNvSpPr>
            <a:spLocks noGrp="1" noChangeArrowheads="1"/>
          </p:cNvSpPr>
          <p:nvPr>
            <p:ph idx="1"/>
          </p:nvPr>
        </p:nvSpPr>
        <p:spPr bwMode="auto">
          <a:xfrm>
            <a:off x="775252" y="1944466"/>
            <a:ext cx="1073094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Char char="•"/>
              <a:tabLst/>
            </a:pP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הפקת תמונות מתוך וידאו</a:t>
            </a:r>
            <a:r>
              <a:rPr kumimoji="0" lang="he-IL" altLang="he-IL" sz="1800" b="0" i="0" u="none" strike="noStrike" cap="none" normalizeH="0" baseline="0" dirty="0">
                <a:ln>
                  <a:noFill/>
                </a:ln>
                <a:solidFill>
                  <a:schemeClr val="tx1"/>
                </a:solidFill>
                <a:effectLst/>
                <a:latin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buNone/>
              <a:tabLst/>
            </a:pP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הבנה של עיבוד וידאו</a:t>
            </a:r>
            <a:r>
              <a:rPr kumimoji="0" lang="he-IL" altLang="he-IL" sz="1800" b="0" i="0" u="none" strike="noStrike" cap="none" normalizeH="0" baseline="0" dirty="0">
                <a:ln>
                  <a:noFill/>
                </a:ln>
                <a:solidFill>
                  <a:schemeClr val="tx1"/>
                </a:solidFill>
                <a:effectLst/>
                <a:latin typeface="Arial" panose="020B0604020202020204" pitchFamily="34" charset="0"/>
              </a:rPr>
              <a:t>: </a:t>
            </a:r>
            <a:r>
              <a:rPr kumimoji="0" lang="he-IL" altLang="he-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תהליך זה מלמד על איך לחלץ תמונות מווידאו כך שהן יהיו מותאמות לצורכי </a:t>
            </a:r>
            <a:r>
              <a:rPr kumimoji="0" lang="he-IL" altLang="he-IL"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פוטוגרמטריה</a:t>
            </a:r>
            <a:r>
              <a:rPr kumimoji="0" lang="he-IL" altLang="he-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כלומר בעלות איכות ודיוק גבוהים</a:t>
            </a:r>
            <a:r>
              <a:rPr kumimoji="0" lang="he-IL" altLang="he-IL" sz="1800" b="0" i="0" u="none" strike="noStrike" cap="none" normalizeH="0" baseline="0" dirty="0">
                <a:ln>
                  <a:noFill/>
                </a:ln>
                <a:solidFill>
                  <a:schemeClr val="tx1"/>
                </a:solidFill>
                <a:effectLst/>
                <a:latin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buNone/>
              <a:tabLst/>
            </a:pPr>
            <a:endParaRPr kumimoji="0" lang="he-IL" altLang="he-IL" sz="18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שילוב של ענני נקודות</a:t>
            </a:r>
            <a:r>
              <a:rPr kumimoji="0" lang="he-IL" altLang="he-IL" sz="1800" b="0" i="0" u="none" strike="noStrike" cap="none" normalizeH="0" baseline="0" dirty="0">
                <a:ln>
                  <a:noFill/>
                </a:ln>
                <a:solidFill>
                  <a:schemeClr val="tx1"/>
                </a:solidFill>
                <a:effectLst/>
                <a:latin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buNone/>
              <a:tabLst/>
            </a:pPr>
            <a:r>
              <a:rPr lang="he-IL" altLang="he-IL" sz="1800" b="1" dirty="0">
                <a:latin typeface="Arial" panose="020B0604020202020204" pitchFamily="34" charset="0"/>
                <a:cs typeface="Arial" panose="020B0604020202020204" pitchFamily="34" charset="0"/>
              </a:rPr>
              <a:t> </a:t>
            </a: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תהליכים טכניים</a:t>
            </a:r>
            <a:r>
              <a:rPr kumimoji="0" lang="he-IL" altLang="he-IL" sz="1800" b="0" i="0" u="none" strike="noStrike" cap="none" normalizeH="0" baseline="0" dirty="0">
                <a:ln>
                  <a:noFill/>
                </a:ln>
                <a:solidFill>
                  <a:schemeClr val="tx1"/>
                </a:solidFill>
                <a:effectLst/>
                <a:latin typeface="Arial" panose="020B0604020202020204" pitchFamily="34" charset="0"/>
              </a:rPr>
              <a:t>: </a:t>
            </a:r>
            <a:r>
              <a:rPr kumimoji="0" lang="he-IL" altLang="he-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הבנת כיצד לקחת שני ענני נקודות ולשבץ אותם ליצירת ענן נקודות אחד. זה כולל הכרת טכניקות של חיבור נתונים וניתוח תהליכים</a:t>
            </a:r>
            <a:r>
              <a:rPr kumimoji="0" lang="he-IL" altLang="he-IL" sz="1800" b="0" i="0" u="none" strike="noStrike" cap="none" normalizeH="0" baseline="0" dirty="0">
                <a:ln>
                  <a:noFill/>
                </a:ln>
                <a:solidFill>
                  <a:schemeClr val="tx1"/>
                </a:solidFill>
                <a:effectLst/>
                <a:latin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buFontTx/>
              <a:buChar char="•"/>
              <a:tabLst/>
            </a:pPr>
            <a:endParaRPr kumimoji="0" lang="he-IL" altLang="he-IL" sz="18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שימוש ב-</a:t>
            </a:r>
            <a:r>
              <a:rPr kumimoji="0" lang="he-IL" altLang="he-IL" sz="18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CloudCompare</a:t>
            </a: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he-IL" altLang="he-IL" sz="18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עבודה עם CLI</a:t>
            </a:r>
            <a:r>
              <a:rPr kumimoji="0" lang="he-IL" altLang="he-IL" sz="1800" b="0" i="0" u="none" strike="noStrike" cap="none" normalizeH="0" baseline="0" dirty="0">
                <a:ln>
                  <a:noFill/>
                </a:ln>
                <a:solidFill>
                  <a:schemeClr val="tx1"/>
                </a:solidFill>
                <a:effectLst/>
                <a:latin typeface="Arial" panose="020B0604020202020204" pitchFamily="34" charset="0"/>
              </a:rPr>
              <a:t>: </a:t>
            </a:r>
            <a:r>
              <a:rPr kumimoji="0" lang="he-IL" altLang="he-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לימוד על ממשק שורת הפקודה של</a:t>
            </a:r>
            <a:r>
              <a:rPr kumimoji="0" lang="he-IL" altLang="he-IL" sz="1800" b="0" i="0" u="none" strike="noStrike" cap="none" normalizeH="0" baseline="0" dirty="0">
                <a:ln>
                  <a:noFill/>
                </a:ln>
                <a:solidFill>
                  <a:schemeClr val="tx1"/>
                </a:solidFill>
                <a:effectLst/>
                <a:latin typeface="Arial" panose="020B0604020202020204" pitchFamily="34" charset="0"/>
              </a:rPr>
              <a:t> </a:t>
            </a:r>
            <a:r>
              <a:rPr kumimoji="0" lang="he-IL" altLang="he-IL" sz="1800" b="0" i="0" u="none" strike="noStrike" cap="none" normalizeH="0" baseline="0" dirty="0" err="1">
                <a:ln>
                  <a:noFill/>
                </a:ln>
                <a:solidFill>
                  <a:schemeClr val="tx1"/>
                </a:solidFill>
                <a:effectLst/>
                <a:latin typeface="Arial" panose="020B0604020202020204" pitchFamily="34" charset="0"/>
              </a:rPr>
              <a:t>CloudCompare</a:t>
            </a:r>
            <a:r>
              <a:rPr kumimoji="0" lang="he-IL" altLang="he-IL" sz="1800" b="0" i="0" u="none" strike="noStrike" cap="none" normalizeH="0" baseline="0" dirty="0">
                <a:ln>
                  <a:noFill/>
                </a:ln>
                <a:solidFill>
                  <a:schemeClr val="tx1"/>
                </a:solidFill>
                <a:effectLst/>
                <a:latin typeface="Arial" panose="020B0604020202020204" pitchFamily="34" charset="0"/>
              </a:rPr>
              <a:t> </a:t>
            </a:r>
            <a:r>
              <a:rPr kumimoji="0" lang="he-IL" altLang="he-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מאפשר הבנה עמוקה יותר של כלים מתקדמים בעיבוד ענני נקודות</a:t>
            </a:r>
            <a:r>
              <a:rPr kumimoji="0" lang="he-IL" altLang="he-IL" sz="1800" b="0" i="0" u="none" strike="noStrike" cap="none" normalizeH="0" baseline="0" dirty="0">
                <a:ln>
                  <a:noFill/>
                </a:ln>
                <a:solidFill>
                  <a:schemeClr val="tx1"/>
                </a:solidFill>
                <a:effectLst/>
                <a:latin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buNone/>
              <a:tabLst/>
            </a:pPr>
            <a:endParaRPr kumimoji="0" lang="he-IL" altLang="he-IL" sz="1800" b="0" i="0" u="none" strike="noStrike" cap="none" normalizeH="0" baseline="0" dirty="0">
              <a:ln>
                <a:noFill/>
              </a:ln>
              <a:solidFill>
                <a:schemeClr val="tx1"/>
              </a:solidFill>
              <a:effectLst/>
              <a:latin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עיצוב ויישום CLI</a:t>
            </a:r>
            <a:r>
              <a:rPr kumimoji="0" lang="he-IL" altLang="he-IL" sz="1800" b="0" i="0" u="none" strike="noStrike" cap="none" normalizeH="0" baseline="0" dirty="0">
                <a:ln>
                  <a:noFill/>
                </a:ln>
                <a:solidFill>
                  <a:schemeClr val="tx1"/>
                </a:solidFill>
                <a:effectLst/>
                <a:latin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he-IL" altLang="he-IL"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פיתוח כלים</a:t>
            </a:r>
            <a:r>
              <a:rPr kumimoji="0" lang="he-IL" altLang="he-IL" sz="1800" b="0" i="0" u="none" strike="noStrike" cap="none" normalizeH="0" baseline="0" dirty="0">
                <a:ln>
                  <a:noFill/>
                </a:ln>
                <a:solidFill>
                  <a:schemeClr val="tx1"/>
                </a:solidFill>
                <a:effectLst/>
                <a:latin typeface="Arial" panose="020B0604020202020204" pitchFamily="34" charset="0"/>
              </a:rPr>
              <a:t>: </a:t>
            </a:r>
            <a:r>
              <a:rPr kumimoji="0" lang="he-IL" altLang="he-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תהליך זה עוזר לפתח כישורי תכנות ויכולת ליצור כלי שניתן להשתמש בו בקלות. כתיבת עזרה</a:t>
            </a:r>
            <a:r>
              <a:rPr kumimoji="0" lang="he-IL" altLang="he-IL" sz="1800" b="0" i="0" u="none" strike="noStrike" cap="none" normalizeH="0" baseline="0" dirty="0">
                <a:ln>
                  <a:noFill/>
                </a:ln>
                <a:solidFill>
                  <a:schemeClr val="tx1"/>
                </a:solidFill>
                <a:effectLst/>
                <a:latin typeface="Arial" panose="020B0604020202020204" pitchFamily="34" charset="0"/>
              </a:rPr>
              <a:t> ("</a:t>
            </a:r>
            <a:r>
              <a:rPr kumimoji="0" lang="he-IL" altLang="he-IL" sz="1800" b="0" i="0" u="none" strike="noStrike" cap="none" normalizeH="0" baseline="0" dirty="0" err="1">
                <a:ln>
                  <a:noFill/>
                </a:ln>
                <a:solidFill>
                  <a:schemeClr val="tx1"/>
                </a:solidFill>
                <a:effectLst/>
                <a:latin typeface="Arial" panose="020B0604020202020204" pitchFamily="34" charset="0"/>
              </a:rPr>
              <a:t>help</a:t>
            </a:r>
            <a:r>
              <a:rPr kumimoji="0" lang="he-IL" altLang="he-IL" sz="1800" b="0" i="0" u="none" strike="noStrike" cap="none" normalizeH="0" baseline="0" dirty="0">
                <a:ln>
                  <a:noFill/>
                </a:ln>
                <a:solidFill>
                  <a:schemeClr val="tx1"/>
                </a:solidFill>
                <a:effectLst/>
                <a:latin typeface="Arial" panose="020B0604020202020204" pitchFamily="34" charset="0"/>
              </a:rPr>
              <a:t>") </a:t>
            </a:r>
            <a:r>
              <a:rPr kumimoji="0" lang="he-IL" altLang="he-IL"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מספקת למידה על כתיבת תיעוד טכני</a:t>
            </a:r>
            <a:r>
              <a:rPr kumimoji="0" lang="he-IL" altLang="he-IL" sz="1800" b="0" i="0" u="none" strike="noStrike" cap="none" normalizeH="0" baseline="0" dirty="0">
                <a:ln>
                  <a:noFill/>
                </a:ln>
                <a:solidFill>
                  <a:schemeClr val="tx1"/>
                </a:solidFill>
                <a:effectLst/>
                <a:latin typeface="Arial" panose="020B0604020202020204" pitchFamily="34" charset="0"/>
              </a:rPr>
              <a:t>.</a:t>
            </a:r>
          </a:p>
          <a:p>
            <a:pPr marL="0" marR="0" lvl="0" indent="0" algn="r" defTabSz="914400" rtl="1" eaLnBrk="0" fontAlgn="base" latinLnBrk="0" hangingPunct="0">
              <a:lnSpc>
                <a:spcPct val="100000"/>
              </a:lnSpc>
              <a:spcBef>
                <a:spcPct val="0"/>
              </a:spcBef>
              <a:spcAft>
                <a:spcPct val="0"/>
              </a:spcAft>
              <a:buClrTx/>
              <a:buSzTx/>
              <a:buFontTx/>
              <a:buNone/>
              <a:tabLst/>
            </a:pPr>
            <a:endParaRPr kumimoji="0" lang="he-IL" altLang="he-I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18116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help</a:t>
            </a:r>
            <a:r>
              <a:rPr lang="he-IL" dirty="0"/>
              <a:t>3 הכלים עם </a:t>
            </a:r>
          </a:p>
        </p:txBody>
      </p:sp>
      <p:sp>
        <p:nvSpPr>
          <p:cNvPr id="3" name="מציין מיקום תוכן 2"/>
          <p:cNvSpPr>
            <a:spLocks noGrp="1"/>
          </p:cNvSpPr>
          <p:nvPr>
            <p:ph idx="1"/>
          </p:nvPr>
        </p:nvSpPr>
        <p:spPr/>
        <p:txBody>
          <a:bodyPr/>
          <a:lstStyle/>
          <a:p>
            <a:pPr algn="r" rtl="1"/>
            <a:r>
              <a:rPr lang="he-IL" dirty="0"/>
              <a:t>1. </a:t>
            </a:r>
            <a:r>
              <a:rPr lang="en-US" dirty="0"/>
              <a:t>video2Images.py</a:t>
            </a:r>
            <a:r>
              <a:rPr lang="he-IL" dirty="0"/>
              <a:t> – הכלי עובר קודם על הסרטון ולפי כמה פרמטרים בוחר את הסט        </a:t>
            </a:r>
            <a:r>
              <a:rPr lang="he-IL" dirty="0" err="1"/>
              <a:t>המטיבי</a:t>
            </a:r>
            <a:r>
              <a:rPr lang="he-IL" dirty="0"/>
              <a:t> לעשות </a:t>
            </a:r>
            <a:r>
              <a:rPr lang="he-IL" dirty="0" err="1"/>
              <a:t>פוטוגרמטריה</a:t>
            </a:r>
            <a:r>
              <a:rPr lang="he-IL" dirty="0"/>
              <a:t>.</a:t>
            </a:r>
          </a:p>
          <a:p>
            <a:pPr marL="0" indent="0" algn="r" rtl="1">
              <a:buNone/>
            </a:pPr>
            <a:endParaRPr lang="he-IL" dirty="0"/>
          </a:p>
          <a:p>
            <a:pPr marL="0" indent="0" algn="r" rtl="1">
              <a:buNone/>
            </a:pPr>
            <a:r>
              <a:rPr lang="he-IL" dirty="0"/>
              <a:t>   2. </a:t>
            </a:r>
            <a:r>
              <a:rPr lang="en-US" dirty="0"/>
              <a:t>images2pointcloud.py</a:t>
            </a:r>
            <a:r>
              <a:rPr lang="he-IL" dirty="0"/>
              <a:t> – מפעיל את </a:t>
            </a:r>
            <a:r>
              <a:rPr lang="en-US" dirty="0" err="1"/>
              <a:t>Meshroom</a:t>
            </a:r>
            <a:r>
              <a:rPr lang="en-US" dirty="0"/>
              <a:t> </a:t>
            </a:r>
            <a:r>
              <a:rPr lang="he-IL" dirty="0"/>
              <a:t>ונראה שאנו מסדרים את ה</a:t>
            </a:r>
            <a:r>
              <a:rPr lang="en-US" dirty="0"/>
              <a:t>path</a:t>
            </a:r>
            <a:r>
              <a:rPr lang="he-IL" dirty="0"/>
              <a:t> לכתובת שלנו </a:t>
            </a:r>
            <a:r>
              <a:rPr lang="en-US" dirty="0" err="1"/>
              <a:t>Meshroom</a:t>
            </a:r>
            <a:r>
              <a:rPr lang="en-US" dirty="0"/>
              <a:t> </a:t>
            </a:r>
            <a:r>
              <a:rPr lang="he-IL" dirty="0"/>
              <a:t>במחשב.</a:t>
            </a:r>
          </a:p>
          <a:p>
            <a:pPr marL="0" indent="0" algn="r" rtl="1">
              <a:buNone/>
            </a:pPr>
            <a:endParaRPr lang="he-IL" dirty="0"/>
          </a:p>
          <a:p>
            <a:pPr marL="0" indent="0" algn="r" rtl="1">
              <a:buNone/>
            </a:pPr>
            <a:r>
              <a:rPr lang="he-IL" dirty="0"/>
              <a:t>   3. </a:t>
            </a:r>
            <a:r>
              <a:rPr lang="en-US" dirty="0"/>
              <a:t>combinePointclouds.py</a:t>
            </a:r>
            <a:r>
              <a:rPr lang="he-IL" dirty="0"/>
              <a:t> – מחבר בין שתי ענני נקודות עם </a:t>
            </a:r>
            <a:r>
              <a:rPr lang="en-US" dirty="0" err="1"/>
              <a:t>CloudCompare</a:t>
            </a:r>
            <a:endParaRPr lang="en-US" dirty="0"/>
          </a:p>
          <a:p>
            <a:pPr marL="0" indent="0" algn="r" rtl="1">
              <a:buNone/>
            </a:pPr>
            <a:r>
              <a:rPr lang="en-US" dirty="0"/>
              <a:t>     </a:t>
            </a:r>
            <a:endParaRPr lang="he-IL" dirty="0"/>
          </a:p>
        </p:txBody>
      </p:sp>
    </p:spTree>
    <p:extLst>
      <p:ext uri="{BB962C8B-B14F-4D97-AF65-F5344CB8AC3E}">
        <p14:creationId xmlns:p14="http://schemas.microsoft.com/office/powerpoint/2010/main" val="3874253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יצירת מודלים </a:t>
            </a:r>
          </a:p>
        </p:txBody>
      </p:sp>
      <p:sp>
        <p:nvSpPr>
          <p:cNvPr id="3" name="מציין מיקום תוכן 2"/>
          <p:cNvSpPr>
            <a:spLocks noGrp="1"/>
          </p:cNvSpPr>
          <p:nvPr>
            <p:ph idx="1"/>
          </p:nvPr>
        </p:nvSpPr>
        <p:spPr/>
        <p:txBody>
          <a:bodyPr/>
          <a:lstStyle/>
          <a:p>
            <a:pPr algn="r" rtl="1"/>
            <a:r>
              <a:rPr lang="he-IL" dirty="0"/>
              <a:t>כדי ליצור מודלים 3 ממדיים:</a:t>
            </a:r>
          </a:p>
          <a:p>
            <a:pPr marL="0" indent="0" algn="r" rtl="1">
              <a:buNone/>
            </a:pPr>
            <a:r>
              <a:rPr lang="he-IL" dirty="0"/>
              <a:t>   1. ניתוח וחילוץ של </a:t>
            </a:r>
            <a:r>
              <a:rPr lang="he-IL" dirty="0" err="1"/>
              <a:t>פריימים</a:t>
            </a:r>
            <a:r>
              <a:rPr lang="he-IL" dirty="0"/>
              <a:t> מהווידאו.</a:t>
            </a:r>
          </a:p>
          <a:p>
            <a:pPr marL="0" indent="0" algn="r" rtl="1">
              <a:buNone/>
            </a:pPr>
            <a:r>
              <a:rPr lang="he-IL" dirty="0"/>
              <a:t>   2. שימוש בתכונות מתקדמות כדי לשחזר את המידע הגיאומטרי.</a:t>
            </a:r>
          </a:p>
          <a:p>
            <a:pPr marL="0" indent="0" algn="r" rtl="1">
              <a:buNone/>
            </a:pPr>
            <a:endParaRPr lang="he-IL" dirty="0"/>
          </a:p>
          <a:p>
            <a:pPr marL="0" indent="0" algn="r" rtl="1">
              <a:buNone/>
            </a:pPr>
            <a:r>
              <a:rPr lang="he-IL" dirty="0"/>
              <a:t>היתרון: הוא שניתן לקבל מידע ממגוון זוויות ופרספקטיבות מבלי להידרש לצלם אלפי תמונות בנפרד.</a:t>
            </a:r>
          </a:p>
        </p:txBody>
      </p:sp>
    </p:spTree>
    <p:extLst>
      <p:ext uri="{BB962C8B-B14F-4D97-AF65-F5344CB8AC3E}">
        <p14:creationId xmlns:p14="http://schemas.microsoft.com/office/powerpoint/2010/main" val="470454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err="1"/>
              <a:t>cloudcompair</a:t>
            </a:r>
            <a:endParaRPr lang="he-IL" dirty="0"/>
          </a:p>
        </p:txBody>
      </p:sp>
      <p:sp>
        <p:nvSpPr>
          <p:cNvPr id="3" name="מציין מיקום תוכן 2"/>
          <p:cNvSpPr>
            <a:spLocks noGrp="1"/>
          </p:cNvSpPr>
          <p:nvPr>
            <p:ph idx="1"/>
          </p:nvPr>
        </p:nvSpPr>
        <p:spPr/>
        <p:txBody>
          <a:bodyPr/>
          <a:lstStyle/>
          <a:p>
            <a:pPr algn="r" rtl="1"/>
            <a:endParaRPr lang="he-IL" dirty="0"/>
          </a:p>
          <a:p>
            <a:pPr algn="r" rtl="1"/>
            <a:endParaRPr lang="he-IL" dirty="0"/>
          </a:p>
        </p:txBody>
      </p:sp>
      <p:sp>
        <p:nvSpPr>
          <p:cNvPr id="5" name="Rectangle 2"/>
          <p:cNvSpPr>
            <a:spLocks noChangeArrowheads="1"/>
          </p:cNvSpPr>
          <p:nvPr/>
        </p:nvSpPr>
        <p:spPr bwMode="auto">
          <a:xfrm>
            <a:off x="854765" y="2356143"/>
            <a:ext cx="10651435" cy="1913352"/>
          </a:xfrm>
          <a:prstGeom prst="rect">
            <a:avLst/>
          </a:prstGeom>
          <a:solidFill>
            <a:schemeClr val="bg1"/>
          </a:solidFill>
          <a:ln>
            <a:noFill/>
          </a:ln>
          <a:effectLst/>
        </p:spPr>
        <p:txBody>
          <a:bodyPr vert="horz" wrap="square" lIns="0" tIns="-12696" rIns="0" bIns="-12696"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he-IL" altLang="he-IL" sz="2100" b="0" i="0" u="none" strike="noStrike" cap="none" normalizeH="0" baseline="0" dirty="0">
                <a:ln>
                  <a:noFill/>
                </a:ln>
                <a:effectLst/>
                <a:latin typeface="inherit"/>
                <a:cs typeface="Arial" panose="020B0604020202020204" pitchFamily="34" charset="0"/>
              </a:rPr>
              <a:t>היא תוכנת עיבוד ענן נקודות תלת </a:t>
            </a:r>
            <a:r>
              <a:rPr kumimoji="0" lang="he-IL" altLang="he-IL" sz="2100" b="0" i="0" u="none" strike="noStrike" cap="none" normalizeH="0" baseline="0" dirty="0" err="1">
                <a:ln>
                  <a:noFill/>
                </a:ln>
                <a:effectLst/>
                <a:latin typeface="inherit"/>
                <a:cs typeface="Arial" panose="020B0604020202020204" pitchFamily="34" charset="0"/>
              </a:rPr>
              <a:t>מימד</a:t>
            </a:r>
            <a:r>
              <a:rPr kumimoji="0" lang="he-IL" altLang="he-IL" sz="2100" b="0" i="0" u="none" strike="noStrike" cap="none" normalizeH="0" baseline="0" dirty="0">
                <a:ln>
                  <a:noFill/>
                </a:ln>
                <a:effectLst/>
                <a:latin typeface="inherit"/>
                <a:cs typeface="Arial" panose="020B0604020202020204" pitchFamily="34" charset="0"/>
              </a:rPr>
              <a:t> (ורשת משולשת). הוא תוכנן במקור לבצע השוואה בין ענן נקודתי לרשת משולשת או בין שני ענני נקודות תלת </a:t>
            </a:r>
            <a:r>
              <a:rPr kumimoji="0" lang="he-IL" altLang="he-IL" sz="2100" b="0" i="0" u="none" strike="noStrike" cap="none" normalizeH="0" baseline="0" dirty="0" err="1">
                <a:ln>
                  <a:noFill/>
                </a:ln>
                <a:effectLst/>
                <a:latin typeface="inherit"/>
                <a:cs typeface="Arial" panose="020B0604020202020204" pitchFamily="34" charset="0"/>
              </a:rPr>
              <a:t>מימדיים</a:t>
            </a:r>
            <a:r>
              <a:rPr kumimoji="0" lang="he-IL" altLang="he-IL" sz="2100" b="0" i="0" u="none" strike="noStrike" cap="none" normalizeH="0" baseline="0" dirty="0">
                <a:ln>
                  <a:noFill/>
                </a:ln>
                <a:effectLst/>
                <a:latin typeface="inherit"/>
                <a:cs typeface="Arial" panose="020B0604020202020204" pitchFamily="34" charset="0"/>
              </a:rPr>
              <a:t> צפופים (כגון אלו שנרכשו בסורק לייזר). זה ספציפי המוקדש למשימה זו. </a:t>
            </a:r>
            <a:endParaRPr kumimoji="0" lang="en-US" altLang="he-IL" sz="2100" b="0" i="0" u="none" strike="noStrike" cap="none" normalizeH="0" baseline="0" dirty="0">
              <a:ln>
                <a:noFill/>
              </a:ln>
              <a:effectLst/>
              <a:latin typeface="inherit"/>
              <a:cs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endParaRPr lang="en-US" altLang="he-IL" sz="2100" dirty="0">
              <a:latin typeface="inherit"/>
              <a:cs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r>
              <a:rPr kumimoji="0" lang="he-IL" altLang="he-IL" sz="2100" b="0" i="0" u="none" strike="noStrike" cap="none" normalizeH="0" baseline="0" dirty="0">
                <a:ln>
                  <a:noFill/>
                </a:ln>
                <a:effectLst/>
                <a:latin typeface="inherit"/>
                <a:cs typeface="Arial" panose="020B0604020202020204" pitchFamily="34" charset="0"/>
              </a:rPr>
              <a:t>המשמעות בפרויקט שלנו: כאשר</a:t>
            </a:r>
            <a:r>
              <a:rPr kumimoji="0" lang="he-IL" altLang="he-IL" sz="2100" b="0" i="0" u="none" strike="noStrike" cap="none" normalizeH="0" dirty="0">
                <a:ln>
                  <a:noFill/>
                </a:ln>
                <a:effectLst/>
                <a:latin typeface="inherit"/>
                <a:cs typeface="Arial" panose="020B0604020202020204" pitchFamily="34" charset="0"/>
              </a:rPr>
              <a:t> יש לנו שתי קבוצות של ענני נקודות (נוצרו משני סטים שונים של תמונות או סרטונים), ניתן להשתמש בכלים תוכנה מיוחדים כדי לאחד שתי הקבוצות ליצירת ענן נקודות אחד כולל.</a:t>
            </a:r>
            <a:r>
              <a:rPr kumimoji="0" lang="en-US" altLang="he-IL" sz="2100" b="0" i="0" u="none" strike="noStrike" cap="none" normalizeH="0" dirty="0">
                <a:ln>
                  <a:noFill/>
                </a:ln>
                <a:effectLst/>
                <a:latin typeface="inherit"/>
                <a:cs typeface="Arial" panose="020B0604020202020204" pitchFamily="34" charset="0"/>
              </a:rPr>
              <a:t> </a:t>
            </a:r>
            <a:endParaRPr kumimoji="0" lang="he-IL" altLang="he-IL" sz="1800" b="0" i="0" u="none" strike="noStrike" cap="none" normalizeH="0" baseline="0" dirty="0">
              <a:ln>
                <a:noFill/>
              </a:ln>
              <a:effectLst/>
              <a:latin typeface="Arial" panose="020B0604020202020204" pitchFamily="34" charset="0"/>
            </a:endParaRPr>
          </a:p>
        </p:txBody>
      </p:sp>
      <p:pic>
        <p:nvPicPr>
          <p:cNvPr id="6" name="תמונה 5"/>
          <p:cNvPicPr>
            <a:picLocks noChangeAspect="1"/>
          </p:cNvPicPr>
          <p:nvPr/>
        </p:nvPicPr>
        <p:blipFill>
          <a:blip r:embed="rId2"/>
          <a:stretch>
            <a:fillRect/>
          </a:stretch>
        </p:blipFill>
        <p:spPr>
          <a:xfrm>
            <a:off x="3917391" y="4431078"/>
            <a:ext cx="4991507" cy="2191509"/>
          </a:xfrm>
          <a:prstGeom prst="rect">
            <a:avLst/>
          </a:prstGeom>
        </p:spPr>
      </p:pic>
    </p:spTree>
    <p:extLst>
      <p:ext uri="{BB962C8B-B14F-4D97-AF65-F5344CB8AC3E}">
        <p14:creationId xmlns:p14="http://schemas.microsoft.com/office/powerpoint/2010/main" val="4186342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קשיים שנתקלנו בהם</a:t>
            </a:r>
          </a:p>
        </p:txBody>
      </p:sp>
      <p:sp>
        <p:nvSpPr>
          <p:cNvPr id="3" name="מציין מיקום תוכן 2"/>
          <p:cNvSpPr>
            <a:spLocks noGrp="1"/>
          </p:cNvSpPr>
          <p:nvPr>
            <p:ph idx="1"/>
          </p:nvPr>
        </p:nvSpPr>
        <p:spPr/>
        <p:txBody>
          <a:bodyPr/>
          <a:lstStyle/>
          <a:p>
            <a:pPr algn="r" rtl="1"/>
            <a:r>
              <a:rPr lang="he-IL" dirty="0"/>
              <a:t>בחלק 1 – היה קשה לנו למצוא קוד פתוח שנוכל להמשיך בו, לשפר אותו או לשנות דברים בו. התעסקנו בכמה  קודים עד שמצאנו הקוד הכי יעיל.</a:t>
            </a:r>
          </a:p>
          <a:p>
            <a:pPr algn="r" rtl="1"/>
            <a:r>
              <a:rPr lang="he-IL" dirty="0"/>
              <a:t>בחלק 2 – אחרי המיזוג של האובייקטים לא הצלחנו לקבל את הטקסטורה שלהם.</a:t>
            </a:r>
          </a:p>
        </p:txBody>
      </p:sp>
    </p:spTree>
    <p:extLst>
      <p:ext uri="{BB962C8B-B14F-4D97-AF65-F5344CB8AC3E}">
        <p14:creationId xmlns:p14="http://schemas.microsoft.com/office/powerpoint/2010/main" val="38082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תוצאות</a:t>
            </a:r>
            <a:endParaRPr lang="he-IL" dirty="0"/>
          </a:p>
        </p:txBody>
      </p:sp>
      <p:sp>
        <p:nvSpPr>
          <p:cNvPr id="3" name="מציין מיקום תוכן 2"/>
          <p:cNvSpPr>
            <a:spLocks noGrp="1"/>
          </p:cNvSpPr>
          <p:nvPr>
            <p:ph idx="1"/>
          </p:nvPr>
        </p:nvSpPr>
        <p:spPr/>
        <p:txBody>
          <a:bodyPr/>
          <a:lstStyle/>
          <a:p>
            <a:endParaRPr lang="he-IL"/>
          </a:p>
        </p:txBody>
      </p:sp>
    </p:spTree>
    <p:extLst>
      <p:ext uri="{BB962C8B-B14F-4D97-AF65-F5344CB8AC3E}">
        <p14:creationId xmlns:p14="http://schemas.microsoft.com/office/powerpoint/2010/main" val="3232328995"/>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408</TotalTime>
  <Words>815</Words>
  <Application>Microsoft Office PowerPoint</Application>
  <PresentationFormat>מסך רחב</PresentationFormat>
  <Paragraphs>72</Paragraphs>
  <Slides>14</Slides>
  <Notes>3</Notes>
  <HiddenSlides>0</HiddenSlides>
  <MMClips>0</MMClips>
  <ScaleCrop>false</ScaleCrop>
  <HeadingPairs>
    <vt:vector size="4" baseType="variant">
      <vt:variant>
        <vt:lpstr>ערכת נושא</vt:lpstr>
      </vt:variant>
      <vt:variant>
        <vt:i4>1</vt:i4>
      </vt:variant>
      <vt:variant>
        <vt:lpstr>כותרות שקופיות</vt:lpstr>
      </vt:variant>
      <vt:variant>
        <vt:i4>14</vt:i4>
      </vt:variant>
    </vt:vector>
  </HeadingPairs>
  <TitlesOfParts>
    <vt:vector size="15" baseType="lpstr">
      <vt:lpstr>Vapor Trail</vt:lpstr>
      <vt:lpstr>PHOTOGRAMMETRY</vt:lpstr>
      <vt:lpstr>פוטוגרמטריה :</vt:lpstr>
      <vt:lpstr>Meshroom קוד פתוח  </vt:lpstr>
      <vt:lpstr>Meshroom איך עובד  ה </vt:lpstr>
      <vt:lpstr>חברות מובילות בתחום הפוטוגרמטריה </vt:lpstr>
      <vt:lpstr>כללי</vt:lpstr>
      <vt:lpstr>סקירה כללית של שלבי הפרויקט</vt:lpstr>
      <vt:lpstr>חלק 1</vt:lpstr>
      <vt:lpstr>חלק 2</vt:lpstr>
      <vt:lpstr>help3 הכלים עם </vt:lpstr>
      <vt:lpstr>יצירת מודלים </vt:lpstr>
      <vt:lpstr>cloudcompair</vt:lpstr>
      <vt:lpstr>קשיים שנתקלנו בהם</vt:lpstr>
      <vt:lpstr>תוצאות</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PHOTOGRAMMETRY</dc:title>
  <dc:creator>USER1</dc:creator>
  <cp:lastModifiedBy>mrwan2016.hr@gmail.com</cp:lastModifiedBy>
  <cp:revision>20</cp:revision>
  <dcterms:created xsi:type="dcterms:W3CDTF">2024-10-27T17:32:11Z</dcterms:created>
  <dcterms:modified xsi:type="dcterms:W3CDTF">2024-10-28T07:41:42Z</dcterms:modified>
</cp:coreProperties>
</file>